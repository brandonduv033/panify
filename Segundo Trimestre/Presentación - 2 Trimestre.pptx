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Work Sans"/>
      <p:bold r:id="rId18"/>
      <p:boldItalic r:id="rId19"/>
    </p:embeddedFont>
    <p:embeddedFont>
      <p:font typeface="Work Sans Ligh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gMOSXmOpXq4qpmapFpGPMJK8Q9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Light-regular.fntdata"/><Relationship Id="rId11" Type="http://schemas.openxmlformats.org/officeDocument/2006/relationships/slide" Target="slides/slide6.xml"/><Relationship Id="rId22" Type="http://schemas.openxmlformats.org/officeDocument/2006/relationships/font" Target="fonts/WorkSansLight-italic.fntdata"/><Relationship Id="rId10" Type="http://schemas.openxmlformats.org/officeDocument/2006/relationships/slide" Target="slides/slide5.xml"/><Relationship Id="rId21" Type="http://schemas.openxmlformats.org/officeDocument/2006/relationships/font" Target="fonts/WorkSansLight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WorkSans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WorkSans-boldItalic.fntdata"/><Relationship Id="rId6" Type="http://schemas.openxmlformats.org/officeDocument/2006/relationships/slide" Target="slides/slide1.xml"/><Relationship Id="rId18" Type="http://schemas.openxmlformats.org/officeDocument/2006/relationships/font" Target="fonts/Work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hyperlink" Target="https://docs.google.com/document/d/1UwQc7IbFvnG36KqwzvDbJEFaOYCrHcD7/edit?usp=drive_link&amp;ouid=105958798031881620302&amp;rtpof=true&amp;sd=tru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hyperlink" Target="https://docs.google.com/document/d/1edjiRVXjOkTmTjWDZExluSAXHGjdizrU/edit?usp=sharing&amp;ouid=105958798031881620302&amp;rtpof=true&amp;sd=true" TargetMode="External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hyperlink" Target="https://docs.google.com/spreadsheets/d/172bbE5d1tKPKw3BoBoLXCp6zaTUgkKek/edit?usp=drive_link&amp;ouid=105958798031881620302&amp;rtpof=true&amp;sd=true" TargetMode="External"/><Relationship Id="rId5" Type="http://schemas.openxmlformats.org/officeDocument/2006/relationships/hyperlink" Target="https://docs.google.com/spreadsheets/d/1z7EUgZYjaALxrsL4M1X7nv0NI9CjKCPe/edit?usp=sharing&amp;ouid=105958798031881620302&amp;rtpof=true&amp;sd=true" TargetMode="External"/><Relationship Id="rId6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4996498" y="2505675"/>
            <a:ext cx="2757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b="1" i="0" lang="es-CO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Panify</a:t>
            </a:r>
            <a:endParaRPr b="1" i="0" sz="5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33331" y="4976300"/>
            <a:ext cx="834617" cy="80123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3281551" y="3318933"/>
            <a:ext cx="562889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B35A"/>
              </a:buClr>
              <a:buSzPts val="2400"/>
              <a:buFont typeface="Calibri"/>
              <a:buNone/>
            </a:pPr>
            <a:r>
              <a:rPr b="0" i="1" lang="es-CO" sz="2400" u="none" cap="none" strike="noStrike">
                <a:solidFill>
                  <a:srgbClr val="F3B35A"/>
                </a:solidFill>
                <a:latin typeface="Calibri"/>
                <a:ea typeface="Calibri"/>
                <a:cs typeface="Calibri"/>
                <a:sym typeface="Calibri"/>
              </a:rPr>
              <a:t>Horneamos Calidad, Entregamos Confianza.</a:t>
            </a:r>
            <a:endParaRPr b="1" i="0" sz="2400" u="none" cap="none" strike="noStrike">
              <a:solidFill>
                <a:srgbClr val="F3B35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124052" y="4161485"/>
            <a:ext cx="2050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s-CO" sz="14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MARTÍN CRUZ </a:t>
            </a:r>
            <a:endParaRPr i="0" sz="14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s-CO" sz="14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JEISON DIAZ</a:t>
            </a:r>
            <a:endParaRPr i="0" sz="14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s-CO" sz="14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BRAYAN DEVIA</a:t>
            </a:r>
            <a:endParaRPr i="0" sz="14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s-CO" sz="14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BRANDON GUEVARA</a:t>
            </a:r>
            <a:endParaRPr i="0" sz="14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s-CO" sz="14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JULIÁN GONZÁLEZ</a:t>
            </a:r>
            <a:endParaRPr i="0" sz="14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/>
        </p:nvSpPr>
        <p:spPr>
          <a:xfrm>
            <a:off x="1838586" y="2430116"/>
            <a:ext cx="851482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5013630" y="3555133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956342" y="1273964"/>
            <a:ext cx="4974195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"/>
              <a:buNone/>
            </a:pPr>
            <a:r>
              <a:rPr b="1" i="0" lang="es-CO" sz="44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956341" y="2301152"/>
            <a:ext cx="937299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que gestione los pedidos, el inventario y la generación de recibos, facilitando la organización de la producción y las entregas en Oro Pan.</a:t>
            </a:r>
            <a:endParaRPr/>
          </a:p>
        </p:txBody>
      </p:sp>
      <p:cxnSp>
        <p:nvCxnSpPr>
          <p:cNvPr id="109" name="Google Shape;109;p3"/>
          <p:cNvCxnSpPr/>
          <p:nvPr/>
        </p:nvCxnSpPr>
        <p:spPr>
          <a:xfrm>
            <a:off x="1038935" y="1950562"/>
            <a:ext cx="1745123" cy="0"/>
          </a:xfrm>
          <a:prstGeom prst="straightConnector1">
            <a:avLst/>
          </a:prstGeom>
          <a:noFill/>
          <a:ln cap="flat" cmpd="sng" w="12700">
            <a:solidFill>
              <a:srgbClr val="4D4D4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1838586" y="2430116"/>
            <a:ext cx="851482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 b="1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15" name="Google Shape;115;p4"/>
          <p:cNvCxnSpPr/>
          <p:nvPr/>
        </p:nvCxnSpPr>
        <p:spPr>
          <a:xfrm>
            <a:off x="5013630" y="3555133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791" y="1966505"/>
            <a:ext cx="10228402" cy="424542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1074875" y="910475"/>
            <a:ext cx="6133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"/>
              <a:buNone/>
            </a:pPr>
            <a:r>
              <a:rPr b="1" lang="es-CO" sz="44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 b="1" sz="4400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22" name="Google Shape;122;p5"/>
          <p:cNvCxnSpPr/>
          <p:nvPr/>
        </p:nvCxnSpPr>
        <p:spPr>
          <a:xfrm>
            <a:off x="1157466" y="1600132"/>
            <a:ext cx="1745123" cy="0"/>
          </a:xfrm>
          <a:prstGeom prst="straightConnector1">
            <a:avLst/>
          </a:prstGeom>
          <a:noFill/>
          <a:ln cap="flat" cmpd="sng" w="12700">
            <a:solidFill>
              <a:srgbClr val="4D4D4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/>
        </p:nvSpPr>
        <p:spPr>
          <a:xfrm>
            <a:off x="1041299" y="1643271"/>
            <a:ext cx="101922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Diagramas de Casos de Uso</a:t>
            </a:r>
            <a:endParaRPr b="1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28" name="Google Shape;128;p8"/>
          <p:cNvCxnSpPr/>
          <p:nvPr/>
        </p:nvCxnSpPr>
        <p:spPr>
          <a:xfrm>
            <a:off x="5013630" y="3555133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3954" y="1229365"/>
            <a:ext cx="9620370" cy="530946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9"/>
          <p:cNvSpPr txBox="1"/>
          <p:nvPr/>
        </p:nvSpPr>
        <p:spPr>
          <a:xfrm>
            <a:off x="553949" y="385975"/>
            <a:ext cx="86421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400"/>
              <a:buFont typeface="Work Sans"/>
              <a:buNone/>
            </a:pPr>
            <a:r>
              <a:rPr b="1" lang="es-CO" sz="4400" u="sng" cap="none" strike="noStrike">
                <a:solidFill>
                  <a:srgbClr val="00B050"/>
                </a:solidFill>
                <a:latin typeface="Work Sans"/>
                <a:ea typeface="Work Sans"/>
                <a:cs typeface="Work Sans"/>
                <a:sym typeface="Work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Diagramas de Caso de Uso</a:t>
            </a:r>
            <a:endParaRPr b="1" sz="4400" u="none" cap="none" strike="noStrike">
              <a:solidFill>
                <a:srgbClr val="00B05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/>
        </p:nvSpPr>
        <p:spPr>
          <a:xfrm>
            <a:off x="1681831" y="1750848"/>
            <a:ext cx="8514826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Formato de Informe de Costos y Análisis de Proveedores </a:t>
            </a:r>
            <a:endParaRPr b="1" sz="72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40" name="Google Shape;140;p12"/>
          <p:cNvCxnSpPr/>
          <p:nvPr/>
        </p:nvCxnSpPr>
        <p:spPr>
          <a:xfrm>
            <a:off x="4906912" y="4874482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/>
        </p:nvSpPr>
        <p:spPr>
          <a:xfrm>
            <a:off x="653143" y="325250"/>
            <a:ext cx="9940834" cy="527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lang="es-CO" sz="2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Formato de Informe de Costos y Análisis de Proveedores </a:t>
            </a:r>
            <a:endParaRPr b="1" sz="2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653143" y="1855059"/>
            <a:ext cx="781526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 presente documento presenta el análisis de costos y la evaluación comparativa de proveedores para la implementación del proyecto Panify. Incluye la estimación detallada de hardware, software, conectividad, soporte técnico y recurso humano necesarios para el desarrollo y puesta en marcha del si</a:t>
            </a:r>
            <a:endParaRPr sz="24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47" name="Google Shape;147;p13"/>
          <p:cNvSpPr txBox="1"/>
          <p:nvPr/>
        </p:nvSpPr>
        <p:spPr>
          <a:xfrm>
            <a:off x="653152" y="5401525"/>
            <a:ext cx="293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u="sng">
                <a:solidFill>
                  <a:schemeClr val="hlink"/>
                </a:solidFill>
                <a:latin typeface="Work Sans Light"/>
                <a:ea typeface="Work Sans Light"/>
                <a:cs typeface="Work Sans Light"/>
                <a:sym typeface="Work Sans Light"/>
                <a:hlinkClick r:id="rId4"/>
              </a:rPr>
              <a:t>Formato WORD</a:t>
            </a:r>
            <a:endParaRPr sz="24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48" name="Google Shape;148;p13"/>
          <p:cNvPicPr preferRelativeResize="0"/>
          <p:nvPr/>
        </p:nvPicPr>
        <p:blipFill rotWithShape="1">
          <a:blip r:embed="rId5">
            <a:alphaModFix/>
          </a:blip>
          <a:srcRect b="19816" l="16102" r="19095" t="19915"/>
          <a:stretch/>
        </p:blipFill>
        <p:spPr>
          <a:xfrm>
            <a:off x="8755186" y="1855059"/>
            <a:ext cx="3033717" cy="2821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/>
          <p:nvPr/>
        </p:nvSpPr>
        <p:spPr>
          <a:xfrm>
            <a:off x="1838586" y="2430116"/>
            <a:ext cx="851482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Cotizaciones</a:t>
            </a:r>
            <a:endParaRPr b="1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54" name="Google Shape;154;p10"/>
          <p:cNvCxnSpPr/>
          <p:nvPr/>
        </p:nvCxnSpPr>
        <p:spPr>
          <a:xfrm>
            <a:off x="5013630" y="3555133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 txBox="1"/>
          <p:nvPr/>
        </p:nvSpPr>
        <p:spPr>
          <a:xfrm>
            <a:off x="430110" y="272999"/>
            <a:ext cx="9815809" cy="527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Work Sans"/>
              <a:buNone/>
            </a:pPr>
            <a:r>
              <a:rPr b="1" lang="es-CO" sz="44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Cotizaciones</a:t>
            </a:r>
            <a:endParaRPr/>
          </a:p>
        </p:txBody>
      </p:sp>
      <p:sp>
        <p:nvSpPr>
          <p:cNvPr id="160" name="Google Shape;160;p11"/>
          <p:cNvSpPr txBox="1"/>
          <p:nvPr/>
        </p:nvSpPr>
        <p:spPr>
          <a:xfrm>
            <a:off x="640080" y="1696214"/>
            <a:ext cx="7925079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En el cuadro de cotizaciones se realizó la estimación de los recursos tecnológicos necesarios para el desarrollo e implementación del proyecto Panify. </a:t>
            </a:r>
            <a:br>
              <a:rPr lang="es-CO" sz="24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</a:br>
            <a:r>
              <a:rPr lang="es-CO" sz="24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Se cotizaron equipos de cómputo, monitores, servicios de conectividad, licencias de software, bases de datos, servidores y mano de obra del equipo de desarrollo. </a:t>
            </a:r>
            <a:br>
              <a:rPr lang="es-CO" sz="24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</a:br>
            <a:r>
              <a:rPr lang="es-CO" sz="24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Los valores fueron consultados en páginas reales y expresados en pesos colombianos (COP) para garantizar información actual y verificable.</a:t>
            </a:r>
            <a:endParaRPr sz="24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61" name="Google Shape;161;p11">
            <a:hlinkClick r:id="rId4"/>
          </p:cNvPr>
          <p:cNvSpPr txBox="1"/>
          <p:nvPr/>
        </p:nvSpPr>
        <p:spPr>
          <a:xfrm>
            <a:off x="640080" y="5647950"/>
            <a:ext cx="361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u="sng">
                <a:solidFill>
                  <a:schemeClr val="hlink"/>
                </a:solidFill>
                <a:latin typeface="Work Sans Light"/>
                <a:ea typeface="Work Sans Light"/>
                <a:cs typeface="Work Sans Light"/>
                <a:sym typeface="Work Sans Light"/>
                <a:hlinkClick r:id="rId5"/>
              </a:rPr>
              <a:t>Cuadro de Cotizaciones</a:t>
            </a:r>
            <a:endParaRPr sz="24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descr="Solicitud de cotización - Iconos gratis de negocios y finanzas" id="162" name="Google Shape;162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39478" y="1696214"/>
            <a:ext cx="3021166" cy="3021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