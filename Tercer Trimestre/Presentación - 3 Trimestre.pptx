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1" r:id="rId7"/>
    <p:sldId id="272" r:id="rId8"/>
    <p:sldId id="268" r:id="rId9"/>
    <p:sldId id="273" r:id="rId10"/>
    <p:sldId id="269" r:id="rId11"/>
    <p:sldId id="274" r:id="rId12"/>
    <p:sldId id="270" r:id="rId13"/>
    <p:sldId id="275" r:id="rId14"/>
    <p:sldId id="267" r:id="rId15"/>
  </p:sldIdLst>
  <p:sldSz cx="12192000" cy="6858000"/>
  <p:notesSz cx="6858000" cy="9144000"/>
  <p:embeddedFontLst>
    <p:embeddedFont>
      <p:font typeface="Work Sans" pitchFamily="2" charset="0"/>
      <p:regular r:id="rId17"/>
      <p:bold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g8ATteeCZnY9oSBywHj+xxF5qV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9" d="100"/>
          <a:sy n="69" d="100"/>
        </p:scale>
        <p:origin x="534" y="-300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28315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09063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8815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09746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1570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062586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58960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831851" y="1709742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6172202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6172202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431789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377" lvl="1" indent="-40639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566" lvl="2" indent="-38099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754" lvl="3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5943" lvl="4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131" lvl="5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320" lvl="6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509" lvl="7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697" lvl="8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7133432" y="1956596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1799432" y="-596104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7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ocs.google.com/spreadsheets/d/1zi72P9yRE4uLPaNgD9Mdr_f_eHUd4W56/edit?usp=sharing&amp;ouid=105958798031881620302&amp;rtpof=true&amp;sd=true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dWwhL5RIpcRHG51ooGabB6ZOQgrbxChp/view" TargetMode="Externa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rDfoUJofW-_yQ804_tGtoWhbVZqnmCDc/view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uzAL2uitjjTG1uG-Lh-Mo1gaWesHZxmp/view" TargetMode="Externa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4996499" y="2505675"/>
            <a:ext cx="2757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3F3F3F"/>
              </a:buClr>
              <a:buSzPts val="5400"/>
            </a:pPr>
            <a:r>
              <a:rPr lang="es-CO" sz="5400" b="1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Panify</a:t>
            </a:r>
            <a:endParaRPr sz="5400" b="1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4"/>
          <a:srcRect/>
          <a:stretch/>
        </p:blipFill>
        <p:spPr>
          <a:xfrm>
            <a:off x="10062786" y="4903689"/>
            <a:ext cx="1133501" cy="919163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"/>
          <p:cNvSpPr txBox="1"/>
          <p:nvPr/>
        </p:nvSpPr>
        <p:spPr>
          <a:xfrm>
            <a:off x="3281551" y="3318937"/>
            <a:ext cx="562889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F3B35A"/>
              </a:buClr>
              <a:buSzPts val="2400"/>
            </a:pPr>
            <a:r>
              <a:rPr lang="es-CO" sz="2400" i="1">
                <a:solidFill>
                  <a:srgbClr val="F3B35A"/>
                </a:solidFill>
                <a:latin typeface="Calibri"/>
                <a:ea typeface="Calibri"/>
                <a:cs typeface="Calibri"/>
                <a:sym typeface="Calibri"/>
              </a:rPr>
              <a:t>Horneamos Calidad, Entregamos Confianza.</a:t>
            </a:r>
            <a:endParaRPr sz="2400" b="1">
              <a:solidFill>
                <a:srgbClr val="F3B35A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1124052" y="4161486"/>
            <a:ext cx="20502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BRANDON GUEVARA</a:t>
            </a: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MARTÍN CRUZ 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JEISON DIAZ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BRAYAN DEVIA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JULIÁN GONZÁLEZ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sz="72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956343" y="1273965"/>
            <a:ext cx="4974195" cy="676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90000"/>
              </a:lnSpc>
              <a:buClr>
                <a:srgbClr val="38AA00"/>
              </a:buClr>
              <a:buSzPts val="4400"/>
            </a:pPr>
            <a:r>
              <a:rPr lang="es-CO" sz="4400" b="1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956341" y="2301152"/>
            <a:ext cx="9372992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que gestione los pedidos, el inventario y la generación de recibos, facilitando la organización de la producción y las entregas en Oro Pan.</a:t>
            </a:r>
            <a:endParaRPr dirty="0"/>
          </a:p>
        </p:txBody>
      </p:sp>
      <p:cxnSp>
        <p:nvCxnSpPr>
          <p:cNvPr id="109" name="Google Shape;109;p3"/>
          <p:cNvCxnSpPr/>
          <p:nvPr/>
        </p:nvCxnSpPr>
        <p:spPr>
          <a:xfrm>
            <a:off x="1038936" y="1950563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72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/>
        </p:nvSpPr>
        <p:spPr>
          <a:xfrm>
            <a:off x="1074875" y="910475"/>
            <a:ext cx="6133800" cy="6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90000"/>
              </a:lnSpc>
              <a:buClr>
                <a:srgbClr val="38AA00"/>
              </a:buClr>
              <a:buSzPts val="4400"/>
            </a:pPr>
            <a:r>
              <a:rPr lang="es-CO" sz="4400" b="1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4400" b="1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1" name="Google Shape;121;p5"/>
          <p:cNvCxnSpPr/>
          <p:nvPr/>
        </p:nvCxnSpPr>
        <p:spPr>
          <a:xfrm>
            <a:off x="1157467" y="1600132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22" name="Google Shape;122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726" y="2016928"/>
            <a:ext cx="10342551" cy="431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Normalización del M.E. (3FN)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905706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Normalización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103AC4F-9E40-58A8-3918-C506D0836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027" y="1345034"/>
            <a:ext cx="9205599" cy="4167935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CA32D6B8-E990-05EE-B505-D4C2127C1A8A}"/>
              </a:ext>
            </a:extLst>
          </p:cNvPr>
          <p:cNvSpPr txBox="1"/>
          <p:nvPr/>
        </p:nvSpPr>
        <p:spPr>
          <a:xfrm>
            <a:off x="1106329" y="5886462"/>
            <a:ext cx="465278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Normalización del M.E.</a:t>
            </a:r>
            <a:endParaRPr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M.E.R. Chen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896308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Entidad Relación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4CC157F-0E70-67B0-97C7-C610E0814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761" y="1392768"/>
            <a:ext cx="4319910" cy="5139983"/>
          </a:xfrm>
          <a:prstGeom prst="rect">
            <a:avLst/>
          </a:prstGeom>
        </p:spPr>
      </p:pic>
      <p:sp>
        <p:nvSpPr>
          <p:cNvPr id="11" name="Google Shape;108;p3">
            <a:extLst>
              <a:ext uri="{FF2B5EF4-FFF2-40B4-BE49-F238E27FC236}">
                <a16:creationId xmlns:a16="http://schemas.microsoft.com/office/drawing/2014/main" id="{E7FE2694-ECA2-D859-CFD1-F09CFB00393A}"/>
              </a:ext>
            </a:extLst>
          </p:cNvPr>
          <p:cNvSpPr txBox="1"/>
          <p:nvPr/>
        </p:nvSpPr>
        <p:spPr>
          <a:xfrm>
            <a:off x="6378453" y="3316469"/>
            <a:ext cx="4469656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M.E.R. Notación Chen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0741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249020" y="2498278"/>
            <a:ext cx="9776765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Diagrama de Clases UML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875639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de Clases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0641B44-96A0-0BB1-9339-AC1067BED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3" y="1428750"/>
            <a:ext cx="5000907" cy="5228692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FAC6E1CA-1577-309C-E305-2D2695BF00C2}"/>
              </a:ext>
            </a:extLst>
          </p:cNvPr>
          <p:cNvSpPr txBox="1"/>
          <p:nvPr/>
        </p:nvSpPr>
        <p:spPr>
          <a:xfrm>
            <a:off x="6378452" y="3316469"/>
            <a:ext cx="500090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Diagrama de Clases UML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1775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249020" y="2498278"/>
            <a:ext cx="9776765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Diccionario de Datos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6413339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Diccionario de Datos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3F43230-BDCB-9F8F-FF52-708793980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735" y="1578324"/>
            <a:ext cx="8501827" cy="4032767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B77A7AB3-8F11-8760-8720-B5C216F16768}"/>
              </a:ext>
            </a:extLst>
          </p:cNvPr>
          <p:cNvSpPr txBox="1"/>
          <p:nvPr/>
        </p:nvSpPr>
        <p:spPr>
          <a:xfrm>
            <a:off x="653143" y="5886461"/>
            <a:ext cx="465278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Diccionario de Datos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410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108</Words>
  <Application>Microsoft Office PowerPoint</Application>
  <PresentationFormat>Panorámica</PresentationFormat>
  <Paragraphs>24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Work Sans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Jorge Enrique Pedraza Sanchez</dc:creator>
  <cp:lastModifiedBy>Usuario</cp:lastModifiedBy>
  <cp:revision>2</cp:revision>
  <dcterms:created xsi:type="dcterms:W3CDTF">2020-10-01T23:51:28Z</dcterms:created>
  <dcterms:modified xsi:type="dcterms:W3CDTF">2026-06-01T04:05:00Z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