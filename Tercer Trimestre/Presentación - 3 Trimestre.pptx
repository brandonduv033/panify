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71" r:id="rId7"/>
    <p:sldId id="273" r:id="rId8"/>
    <p:sldId id="274" r:id="rId9"/>
    <p:sldId id="272" r:id="rId10"/>
    <p:sldId id="275" r:id="rId11"/>
    <p:sldId id="276" r:id="rId12"/>
    <p:sldId id="277" r:id="rId13"/>
    <p:sldId id="278" r:id="rId14"/>
    <p:sldId id="279" r:id="rId15"/>
    <p:sldId id="280" r:id="rId16"/>
    <p:sldId id="267" r:id="rId17"/>
  </p:sldIdLst>
  <p:sldSz cx="12192000" cy="6858000"/>
  <p:notesSz cx="6858000" cy="9144000"/>
  <p:embeddedFontLst>
    <p:embeddedFont>
      <p:font typeface="Work Sans" pitchFamily="2" charset="0"/>
      <p:regular r:id="rId19"/>
      <p:bold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5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187" userDrawn="1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4" roundtripDataSignature="AMtx7mg8ATteeCZnY9oSBywHj+xxF5qVx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894" y="78"/>
      </p:cViewPr>
      <p:guideLst>
        <p:guide orient="horz" pos="595"/>
        <p:guide pos="3840"/>
        <p:guide orient="horz" pos="18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428315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388158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1570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858960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093337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481805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22985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4999076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503941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6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6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6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s-CO" smtClean="0"/>
              <a:pPr/>
              <a:t>‹Nº›</a:t>
            </a:fld>
            <a:endParaRPr lang="es-CO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7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2" name="Google Shape;22;p17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7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7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s-CO" smtClean="0"/>
              <a:pPr/>
              <a:t>‹Nº›</a:t>
            </a:fld>
            <a:endParaRPr lang="es-CO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8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89" lvl="0" indent="-342891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377" lvl="1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566" lvl="2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754" lvl="3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943" lvl="4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131" lvl="5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320" lvl="6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509" lvl="7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697" lvl="8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18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8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8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s-CO" smtClean="0"/>
              <a:pPr/>
              <a:t>‹Nº›</a:t>
            </a:fld>
            <a:endParaRPr lang="es-CO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9"/>
          <p:cNvSpPr txBox="1">
            <a:spLocks noGrp="1"/>
          </p:cNvSpPr>
          <p:nvPr>
            <p:ph type="title"/>
          </p:nvPr>
        </p:nvSpPr>
        <p:spPr>
          <a:xfrm>
            <a:off x="831851" y="1709742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body" idx="1"/>
          </p:nvPr>
        </p:nvSpPr>
        <p:spPr>
          <a:xfrm>
            <a:off x="831851" y="4589467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89" lvl="0" indent="-228594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377" lvl="1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566" lvl="2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754" lvl="3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5943" lvl="4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131" lvl="5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320" lvl="6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509" lvl="7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697" lvl="8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9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s-CO" smtClean="0"/>
              <a:pPr/>
              <a:t>‹Nº›</a:t>
            </a:fld>
            <a:endParaRPr lang="es-CO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0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89" lvl="0" indent="-342891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377" lvl="1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566" lvl="2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754" lvl="3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943" lvl="4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131" lvl="5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320" lvl="6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509" lvl="7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697" lvl="8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89" lvl="0" indent="-342891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377" lvl="1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566" lvl="2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754" lvl="3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943" lvl="4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131" lvl="5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320" lvl="6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509" lvl="7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697" lvl="8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0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0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0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s-CO" smtClean="0"/>
              <a:pPr/>
              <a:t>‹Nº›</a:t>
            </a:fld>
            <a:endParaRPr lang="es-CO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1"/>
          <p:cNvSpPr txBox="1">
            <a:spLocks noGrp="1"/>
          </p:cNvSpPr>
          <p:nvPr>
            <p:ph type="title"/>
          </p:nvPr>
        </p:nvSpPr>
        <p:spPr>
          <a:xfrm>
            <a:off x="839788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1"/>
          <p:cNvSpPr txBox="1"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189" lvl="0" indent="-228594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377" lvl="1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566" lvl="2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754" lvl="3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5943" lvl="4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131" lvl="5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320" lvl="6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509" lvl="7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697" lvl="8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body" idx="2"/>
          </p:nvPr>
        </p:nvSpPr>
        <p:spPr>
          <a:xfrm>
            <a:off x="839789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89" lvl="0" indent="-342891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377" lvl="1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566" lvl="2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754" lvl="3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943" lvl="4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131" lvl="5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320" lvl="6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509" lvl="7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697" lvl="8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21"/>
          <p:cNvSpPr txBox="1">
            <a:spLocks noGrp="1"/>
          </p:cNvSpPr>
          <p:nvPr>
            <p:ph type="body" idx="3"/>
          </p:nvPr>
        </p:nvSpPr>
        <p:spPr>
          <a:xfrm>
            <a:off x="6172202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189" lvl="0" indent="-228594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377" lvl="1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566" lvl="2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754" lvl="3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5943" lvl="4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131" lvl="5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320" lvl="6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509" lvl="7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697" lvl="8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21"/>
          <p:cNvSpPr txBox="1">
            <a:spLocks noGrp="1"/>
          </p:cNvSpPr>
          <p:nvPr>
            <p:ph type="body" idx="4"/>
          </p:nvPr>
        </p:nvSpPr>
        <p:spPr>
          <a:xfrm>
            <a:off x="6172202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89" lvl="0" indent="-342891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377" lvl="1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566" lvl="2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754" lvl="3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943" lvl="4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131" lvl="5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320" lvl="6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509" lvl="7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697" lvl="8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21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1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1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s-CO" smtClean="0"/>
              <a:pPr/>
              <a:t>‹Nº›</a:t>
            </a:fld>
            <a:endParaRPr lang="es-CO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2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s-CO" smtClean="0"/>
              <a:pPr/>
              <a:t>‹Nº›</a:t>
            </a:fld>
            <a:endParaRPr lang="es-CO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body" idx="1"/>
          </p:nvPr>
        </p:nvSpPr>
        <p:spPr>
          <a:xfrm>
            <a:off x="5183188" y="987429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89" lvl="0" indent="-431789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377" lvl="1" indent="-40639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566" lvl="2" indent="-38099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754" lvl="3" indent="-3555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5943" lvl="4" indent="-3555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131" lvl="5" indent="-3555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320" lvl="6" indent="-3555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509" lvl="7" indent="-3555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697" lvl="8" indent="-3555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89" lvl="0" indent="-228594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377" lvl="1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566" lvl="2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754" lvl="3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5943" lvl="4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131" lvl="5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320" lvl="6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509" lvl="7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697" lvl="8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23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s-CO" smtClean="0"/>
              <a:pPr/>
              <a:t>‹Nº›</a:t>
            </a:fld>
            <a:endParaRPr lang="es-CO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>
            <a:spLocks noGrp="1"/>
          </p:cNvSpPr>
          <p:nvPr>
            <p:ph type="pic" idx="2"/>
          </p:nvPr>
        </p:nvSpPr>
        <p:spPr>
          <a:xfrm>
            <a:off x="5183188" y="987429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89" lvl="0" indent="-228594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377" lvl="1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566" lvl="2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754" lvl="3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5943" lvl="4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131" lvl="5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320" lvl="6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509" lvl="7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697" lvl="8" indent="-22859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s-CO" smtClean="0"/>
              <a:pPr/>
              <a:t>‹Nº›</a:t>
            </a:fld>
            <a:endParaRPr lang="es-CO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89" lvl="0" indent="-342891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377" lvl="1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566" lvl="2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754" lvl="3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943" lvl="4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131" lvl="5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320" lvl="6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509" lvl="7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697" lvl="8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s-CO" smtClean="0"/>
              <a:pPr/>
              <a:t>‹Nº›</a:t>
            </a:fld>
            <a:endParaRPr lang="es-CO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"/>
          <p:cNvSpPr txBox="1">
            <a:spLocks noGrp="1"/>
          </p:cNvSpPr>
          <p:nvPr>
            <p:ph type="title"/>
          </p:nvPr>
        </p:nvSpPr>
        <p:spPr>
          <a:xfrm rot="5400000">
            <a:off x="7133432" y="1956596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6"/>
          <p:cNvSpPr txBox="1">
            <a:spLocks noGrp="1"/>
          </p:cNvSpPr>
          <p:nvPr>
            <p:ph type="body" idx="1"/>
          </p:nvPr>
        </p:nvSpPr>
        <p:spPr>
          <a:xfrm rot="5400000">
            <a:off x="1799432" y="-596104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89" lvl="0" indent="-342891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377" lvl="1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566" lvl="2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754" lvl="3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943" lvl="4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131" lvl="5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320" lvl="6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509" lvl="7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697" lvl="8" indent="-34289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6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6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6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s-CO" smtClean="0"/>
              <a:pPr/>
              <a:t>‹Nº›</a:t>
            </a:fld>
            <a:endParaRPr lang="es-CO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seño personalizado">
  <p:cSld name="Diseño personalizado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7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7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27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27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s-CO" smtClean="0"/>
              <a:pPr/>
              <a:t>‹Nº›</a:t>
            </a:fld>
            <a:endParaRPr lang="es-CO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5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5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5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5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s-CO" smtClean="0"/>
              <a:pPr/>
              <a:t>‹Nº›</a:t>
            </a:fld>
            <a:endParaRPr lang="es-CO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drive.google.com/file/d/1dWwhL5RIpcRHG51ooGabB6ZOQgrbxChp/view" TargetMode="Externa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drive.google.com/file/d/1rDfoUJofW-_yQ804_tGtoWhbVZqnmCDc/view" TargetMode="Externa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docs.google.com/spreadsheets/d/1zi72P9yRE4uLPaNgD9Mdr_f_eHUd4W56/edit?usp=sharing&amp;ouid=105958798031881620302&amp;rtpof=true&amp;sd=true" TargetMode="Externa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drive.google.com/file/d/1uzAL2uitjjTG1uG-Lh-Mo1gaWesHZxmp/view" TargetMode="Externa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drive.google.com/file/d/1YVO-iCeJ_kmWT2ugjnq04O4VOJsp5VVB/view?usp=sharing" TargetMode="Externa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drive.google.com/file/d/1HKmIczdQ-vrT2dYo_FCMfE8-Kvp2pey-/view?usp=sharing" TargetMode="Externa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BrandonDuv033/Panify/tree/main" TargetMode="Externa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"/>
          <p:cNvSpPr txBox="1"/>
          <p:nvPr/>
        </p:nvSpPr>
        <p:spPr>
          <a:xfrm>
            <a:off x="4996499" y="2505675"/>
            <a:ext cx="2757600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buClr>
                <a:srgbClr val="3F3F3F"/>
              </a:buClr>
              <a:buSzPts val="5400"/>
            </a:pPr>
            <a:r>
              <a:rPr lang="es-CO" sz="5400" b="1">
                <a:solidFill>
                  <a:srgbClr val="3F3F3F"/>
                </a:solidFill>
                <a:latin typeface="Work Sans"/>
                <a:ea typeface="Work Sans"/>
                <a:cs typeface="Work Sans"/>
                <a:sym typeface="Work Sans"/>
              </a:rPr>
              <a:t>Panify</a:t>
            </a:r>
            <a:endParaRPr sz="5400" b="1">
              <a:solidFill>
                <a:srgbClr val="3F3F3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3281551" y="3318937"/>
            <a:ext cx="5628899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buClr>
                <a:srgbClr val="F3B35A"/>
              </a:buClr>
              <a:buSzPts val="2400"/>
            </a:pPr>
            <a:r>
              <a:rPr lang="es-CO" sz="2400" i="1">
                <a:solidFill>
                  <a:srgbClr val="F3B35A"/>
                </a:solidFill>
                <a:latin typeface="Calibri"/>
                <a:ea typeface="Calibri"/>
                <a:cs typeface="Calibri"/>
                <a:sym typeface="Calibri"/>
              </a:rPr>
              <a:t>Horneamos Calidad, Entregamos Confianza.</a:t>
            </a:r>
            <a:endParaRPr sz="2400" b="1">
              <a:solidFill>
                <a:srgbClr val="F3B35A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96" name="Google Shape;96;p1"/>
          <p:cNvSpPr txBox="1"/>
          <p:nvPr/>
        </p:nvSpPr>
        <p:spPr>
          <a:xfrm>
            <a:off x="1124052" y="4161486"/>
            <a:ext cx="20502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CO" dirty="0">
                <a:latin typeface="Work Sans"/>
                <a:ea typeface="Work Sans"/>
                <a:cs typeface="Work Sans"/>
                <a:sym typeface="Work Sans"/>
              </a:rPr>
              <a:t>BRANDON GUEVARA</a:t>
            </a:r>
          </a:p>
          <a:p>
            <a:r>
              <a:rPr lang="es-CO" dirty="0">
                <a:latin typeface="Work Sans"/>
                <a:ea typeface="Work Sans"/>
                <a:cs typeface="Work Sans"/>
                <a:sym typeface="Work Sans"/>
              </a:rPr>
              <a:t>MARTÍN CRUZ </a:t>
            </a:r>
            <a:endParaRPr dirty="0">
              <a:solidFill>
                <a:schemeClr val="dk1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r>
              <a:rPr lang="es-CO" dirty="0">
                <a:latin typeface="Work Sans"/>
                <a:ea typeface="Work Sans"/>
                <a:cs typeface="Work Sans"/>
                <a:sym typeface="Work Sans"/>
              </a:rPr>
              <a:t>JEISON DIAZ</a:t>
            </a:r>
            <a:endParaRPr dirty="0">
              <a:solidFill>
                <a:schemeClr val="dk1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r>
              <a:rPr lang="es-CO" dirty="0">
                <a:latin typeface="Work Sans"/>
                <a:ea typeface="Work Sans"/>
                <a:cs typeface="Work Sans"/>
                <a:sym typeface="Work Sans"/>
              </a:rPr>
              <a:t>BRAYAN DEVIA</a:t>
            </a:r>
            <a:endParaRPr dirty="0">
              <a:solidFill>
                <a:schemeClr val="dk1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r>
              <a:rPr lang="es-CO" dirty="0">
                <a:latin typeface="Work Sans"/>
                <a:ea typeface="Work Sans"/>
                <a:cs typeface="Work Sans"/>
                <a:sym typeface="Work Sans"/>
              </a:rPr>
              <a:t>JULIÁN GONZÁLEZ</a:t>
            </a:r>
            <a:endParaRPr dirty="0">
              <a:solidFill>
                <a:schemeClr val="dk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10B1DA6-4151-0176-0B41-3E5EEEC03E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7246" y="4746241"/>
            <a:ext cx="1360419" cy="116951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/>
        </p:nvSpPr>
        <p:spPr>
          <a:xfrm>
            <a:off x="1838585" y="2430118"/>
            <a:ext cx="8514827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s-CO" sz="60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Objetivo General</a:t>
            </a:r>
            <a:endParaRPr sz="72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02" name="Google Shape;102;p2"/>
          <p:cNvCxnSpPr/>
          <p:nvPr/>
        </p:nvCxnSpPr>
        <p:spPr>
          <a:xfrm>
            <a:off x="5013631" y="3555133"/>
            <a:ext cx="2247544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/>
        </p:nvSpPr>
        <p:spPr>
          <a:xfrm>
            <a:off x="956343" y="1273965"/>
            <a:ext cx="4974195" cy="676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lnSpc>
                <a:spcPct val="90000"/>
              </a:lnSpc>
              <a:buClr>
                <a:srgbClr val="38AA00"/>
              </a:buClr>
              <a:buSzPts val="4400"/>
            </a:pPr>
            <a:r>
              <a:rPr lang="es-CO" sz="4400" b="1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Objetivo General</a:t>
            </a:r>
            <a:endParaRPr/>
          </a:p>
        </p:txBody>
      </p:sp>
      <p:sp>
        <p:nvSpPr>
          <p:cNvPr id="108" name="Google Shape;108;p3"/>
          <p:cNvSpPr txBox="1"/>
          <p:nvPr/>
        </p:nvSpPr>
        <p:spPr>
          <a:xfrm>
            <a:off x="956341" y="2301152"/>
            <a:ext cx="9372992" cy="2308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CO" sz="3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una aplicación que gestione los pedidos, el inventario y la generación de recibos, facilitando la organización de la producción y las entregas en Oro Pan.</a:t>
            </a:r>
            <a:endParaRPr dirty="0"/>
          </a:p>
        </p:txBody>
      </p:sp>
      <p:cxnSp>
        <p:nvCxnSpPr>
          <p:cNvPr id="109" name="Google Shape;109;p3"/>
          <p:cNvCxnSpPr/>
          <p:nvPr/>
        </p:nvCxnSpPr>
        <p:spPr>
          <a:xfrm>
            <a:off x="1038936" y="1950563"/>
            <a:ext cx="1745123" cy="0"/>
          </a:xfrm>
          <a:prstGeom prst="straightConnector1">
            <a:avLst/>
          </a:prstGeom>
          <a:noFill/>
          <a:ln w="12700" cap="flat" cmpd="sng">
            <a:solidFill>
              <a:srgbClr val="4D4D4C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"/>
          <p:cNvSpPr txBox="1"/>
          <p:nvPr/>
        </p:nvSpPr>
        <p:spPr>
          <a:xfrm>
            <a:off x="1838585" y="2430118"/>
            <a:ext cx="8514827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s-CO" sz="60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Objetivos Específicos</a:t>
            </a:r>
            <a:endParaRPr sz="72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15" name="Google Shape;115;p4"/>
          <p:cNvCxnSpPr/>
          <p:nvPr/>
        </p:nvCxnSpPr>
        <p:spPr>
          <a:xfrm>
            <a:off x="5013631" y="3555133"/>
            <a:ext cx="2247544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"/>
          <p:cNvSpPr txBox="1"/>
          <p:nvPr/>
        </p:nvSpPr>
        <p:spPr>
          <a:xfrm>
            <a:off x="1074875" y="910475"/>
            <a:ext cx="6133800" cy="67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lnSpc>
                <a:spcPct val="90000"/>
              </a:lnSpc>
              <a:buClr>
                <a:srgbClr val="38AA00"/>
              </a:buClr>
              <a:buSzPts val="4400"/>
            </a:pPr>
            <a:r>
              <a:rPr lang="es-CO" sz="4400" b="1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Objetivos Específicos</a:t>
            </a:r>
            <a:endParaRPr sz="4400" b="1">
              <a:solidFill>
                <a:srgbClr val="38AA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21" name="Google Shape;121;p5"/>
          <p:cNvCxnSpPr/>
          <p:nvPr/>
        </p:nvCxnSpPr>
        <p:spPr>
          <a:xfrm>
            <a:off x="1157467" y="1600132"/>
            <a:ext cx="1745123" cy="0"/>
          </a:xfrm>
          <a:prstGeom prst="straightConnector1">
            <a:avLst/>
          </a:prstGeom>
          <a:noFill/>
          <a:ln w="12700" cap="flat" cmpd="sng">
            <a:solidFill>
              <a:srgbClr val="4D4D4C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22" name="Google Shape;122;p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726" y="2016928"/>
            <a:ext cx="10342551" cy="4313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"/>
          <p:cNvSpPr txBox="1"/>
          <p:nvPr/>
        </p:nvSpPr>
        <p:spPr>
          <a:xfrm>
            <a:off x="399535" y="2287246"/>
            <a:ext cx="11392931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s-CO" sz="6000" b="1" dirty="0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Diseño de Base de Datos</a:t>
            </a:r>
            <a:endParaRPr sz="7200" b="1" dirty="0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15" name="Google Shape;115;p4"/>
          <p:cNvCxnSpPr/>
          <p:nvPr/>
        </p:nvCxnSpPr>
        <p:spPr>
          <a:xfrm>
            <a:off x="5013631" y="3555133"/>
            <a:ext cx="2247544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9057068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3"/>
          <p:cNvSpPr txBox="1"/>
          <p:nvPr/>
        </p:nvSpPr>
        <p:spPr>
          <a:xfrm>
            <a:off x="653143" y="325249"/>
            <a:ext cx="9940835" cy="527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FFFFFF"/>
              </a:buClr>
              <a:buSzPts val="6000"/>
              <a:defRPr/>
            </a:pPr>
            <a:r>
              <a:rPr lang="es-CO" sz="4000" b="1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Modelo Entidad Relación</a:t>
            </a:r>
            <a:endParaRPr sz="4000" b="1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04CC157F-0E70-67B0-97C7-C610E08145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761" y="1392768"/>
            <a:ext cx="4319910" cy="5139983"/>
          </a:xfrm>
          <a:prstGeom prst="rect">
            <a:avLst/>
          </a:prstGeom>
        </p:spPr>
      </p:pic>
      <p:sp>
        <p:nvSpPr>
          <p:cNvPr id="11" name="Google Shape;108;p3">
            <a:extLst>
              <a:ext uri="{FF2B5EF4-FFF2-40B4-BE49-F238E27FC236}">
                <a16:creationId xmlns:a16="http://schemas.microsoft.com/office/drawing/2014/main" id="{E7FE2694-ECA2-D859-CFD1-F09CFB00393A}"/>
              </a:ext>
            </a:extLst>
          </p:cNvPr>
          <p:cNvSpPr txBox="1"/>
          <p:nvPr/>
        </p:nvSpPr>
        <p:spPr>
          <a:xfrm>
            <a:off x="6378453" y="3316469"/>
            <a:ext cx="4469656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CO" sz="3600" dirty="0">
                <a:solidFill>
                  <a:schemeClr val="accent6"/>
                </a:solidFill>
                <a:latin typeface="Calibri"/>
                <a:cs typeface="Calibri"/>
                <a:sym typeface="Calibri"/>
                <a:hlinkClick r:id="rId5"/>
              </a:rPr>
              <a:t>M.E.R. Notación Chen</a:t>
            </a:r>
            <a:endParaRPr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0741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3"/>
          <p:cNvSpPr txBox="1"/>
          <p:nvPr/>
        </p:nvSpPr>
        <p:spPr>
          <a:xfrm>
            <a:off x="653143" y="325249"/>
            <a:ext cx="9940835" cy="527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FFFFFF"/>
              </a:buClr>
              <a:buSzPts val="6000"/>
              <a:defRPr/>
            </a:pPr>
            <a:r>
              <a:rPr lang="es-CO" sz="4000" b="1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Modelo Relacional</a:t>
            </a:r>
            <a:endParaRPr sz="4000" b="1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0641B44-96A0-0BB1-9339-AC1067BEDD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143" y="1428750"/>
            <a:ext cx="5000907" cy="5228692"/>
          </a:xfrm>
          <a:prstGeom prst="rect">
            <a:avLst/>
          </a:prstGeom>
        </p:spPr>
      </p:pic>
      <p:sp>
        <p:nvSpPr>
          <p:cNvPr id="4" name="Google Shape;108;p3">
            <a:extLst>
              <a:ext uri="{FF2B5EF4-FFF2-40B4-BE49-F238E27FC236}">
                <a16:creationId xmlns:a16="http://schemas.microsoft.com/office/drawing/2014/main" id="{FAC6E1CA-1577-309C-E305-2D2695BF00C2}"/>
              </a:ext>
            </a:extLst>
          </p:cNvPr>
          <p:cNvSpPr txBox="1"/>
          <p:nvPr/>
        </p:nvSpPr>
        <p:spPr>
          <a:xfrm>
            <a:off x="6378452" y="3316469"/>
            <a:ext cx="5000907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s-CO" sz="3600" dirty="0">
                <a:solidFill>
                  <a:schemeClr val="accent6"/>
                </a:solidFill>
                <a:latin typeface="Calibri"/>
                <a:cs typeface="Calibri"/>
                <a:sym typeface="Calibri"/>
                <a:hlinkClick r:id="rId5"/>
              </a:rPr>
              <a:t>M.R. </a:t>
            </a:r>
            <a:r>
              <a:rPr lang="es-CO" sz="3600" dirty="0" err="1">
                <a:solidFill>
                  <a:schemeClr val="accent6"/>
                </a:solidFill>
                <a:latin typeface="Calibri"/>
                <a:cs typeface="Calibri"/>
                <a:sym typeface="Calibri"/>
                <a:hlinkClick r:id="rId5"/>
              </a:rPr>
              <a:t>Workbench</a:t>
            </a:r>
            <a:endParaRPr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17754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3"/>
          <p:cNvSpPr txBox="1"/>
          <p:nvPr/>
        </p:nvSpPr>
        <p:spPr>
          <a:xfrm>
            <a:off x="653143" y="325249"/>
            <a:ext cx="9940835" cy="527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FFFFFF"/>
              </a:buClr>
              <a:buSzPts val="6000"/>
              <a:defRPr/>
            </a:pPr>
            <a:r>
              <a:rPr lang="es-CO" sz="4000" b="1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Normalización</a:t>
            </a:r>
            <a:endParaRPr sz="4000" b="1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103AC4F-9E40-58A8-3918-C506D08367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0027" y="1345034"/>
            <a:ext cx="9205599" cy="4167935"/>
          </a:xfrm>
          <a:prstGeom prst="rect">
            <a:avLst/>
          </a:prstGeom>
        </p:spPr>
      </p:pic>
      <p:sp>
        <p:nvSpPr>
          <p:cNvPr id="4" name="Google Shape;108;p3">
            <a:extLst>
              <a:ext uri="{FF2B5EF4-FFF2-40B4-BE49-F238E27FC236}">
                <a16:creationId xmlns:a16="http://schemas.microsoft.com/office/drawing/2014/main" id="{CA32D6B8-E990-05EE-B505-D4C2127C1A8A}"/>
              </a:ext>
            </a:extLst>
          </p:cNvPr>
          <p:cNvSpPr txBox="1"/>
          <p:nvPr/>
        </p:nvSpPr>
        <p:spPr>
          <a:xfrm>
            <a:off x="1106329" y="5886462"/>
            <a:ext cx="4652787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CO" sz="3600" dirty="0">
                <a:solidFill>
                  <a:schemeClr val="accent6"/>
                </a:solidFill>
                <a:latin typeface="Calibri"/>
                <a:cs typeface="Calibri"/>
                <a:sym typeface="Calibri"/>
                <a:hlinkClick r:id="rId5"/>
              </a:rPr>
              <a:t>Normalización del M.E.</a:t>
            </a:r>
            <a:endParaRPr dirty="0">
              <a:solidFill>
                <a:schemeClr val="accent6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3"/>
          <p:cNvSpPr txBox="1"/>
          <p:nvPr/>
        </p:nvSpPr>
        <p:spPr>
          <a:xfrm>
            <a:off x="653143" y="325249"/>
            <a:ext cx="9940835" cy="527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FFFFFF"/>
              </a:buClr>
              <a:buSzPts val="6000"/>
              <a:defRPr/>
            </a:pPr>
            <a:r>
              <a:rPr lang="es-CO" sz="4000" b="1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Diccionario de Datos</a:t>
            </a:r>
            <a:endParaRPr sz="4000" b="1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3F43230-BDCB-9F8F-FF52-708793980E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6735" y="1578324"/>
            <a:ext cx="8501827" cy="4032767"/>
          </a:xfrm>
          <a:prstGeom prst="rect">
            <a:avLst/>
          </a:prstGeom>
        </p:spPr>
      </p:pic>
      <p:sp>
        <p:nvSpPr>
          <p:cNvPr id="4" name="Google Shape;108;p3">
            <a:extLst>
              <a:ext uri="{FF2B5EF4-FFF2-40B4-BE49-F238E27FC236}">
                <a16:creationId xmlns:a16="http://schemas.microsoft.com/office/drawing/2014/main" id="{B77A7AB3-8F11-8760-8720-B5C216F16768}"/>
              </a:ext>
            </a:extLst>
          </p:cNvPr>
          <p:cNvSpPr txBox="1"/>
          <p:nvPr/>
        </p:nvSpPr>
        <p:spPr>
          <a:xfrm>
            <a:off x="653143" y="5886461"/>
            <a:ext cx="4652787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CO" sz="3600" dirty="0">
                <a:solidFill>
                  <a:schemeClr val="accent6"/>
                </a:solidFill>
                <a:latin typeface="Calibri"/>
                <a:cs typeface="Calibri"/>
                <a:sym typeface="Calibri"/>
                <a:hlinkClick r:id="rId5"/>
              </a:rPr>
              <a:t>Diccionario de Datos</a:t>
            </a:r>
            <a:endParaRPr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24109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"/>
          <p:cNvSpPr txBox="1"/>
          <p:nvPr/>
        </p:nvSpPr>
        <p:spPr>
          <a:xfrm>
            <a:off x="399535" y="2287246"/>
            <a:ext cx="11392931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s-CO" sz="6000" b="1" dirty="0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Diseño y Arquitectura del SW</a:t>
            </a:r>
            <a:endParaRPr sz="7200" b="1" dirty="0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15" name="Google Shape;115;p4"/>
          <p:cNvCxnSpPr/>
          <p:nvPr/>
        </p:nvCxnSpPr>
        <p:spPr>
          <a:xfrm>
            <a:off x="5013631" y="3555133"/>
            <a:ext cx="2247544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351102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3"/>
          <p:cNvSpPr txBox="1"/>
          <p:nvPr/>
        </p:nvSpPr>
        <p:spPr>
          <a:xfrm>
            <a:off x="653143" y="325249"/>
            <a:ext cx="9940835" cy="527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FFFFFF"/>
              </a:buClr>
              <a:buSzPts val="6000"/>
              <a:defRPr/>
            </a:pPr>
            <a:r>
              <a:rPr lang="es-CO" sz="4000" b="1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Diagrama de Clases</a:t>
            </a:r>
            <a:endParaRPr sz="4000" b="1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2B28B70-2B1F-1CC8-C104-2FD35F5E85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780" y="1370254"/>
            <a:ext cx="9601199" cy="5367370"/>
          </a:xfrm>
          <a:prstGeom prst="rect">
            <a:avLst/>
          </a:prstGeom>
        </p:spPr>
      </p:pic>
      <p:sp>
        <p:nvSpPr>
          <p:cNvPr id="4" name="Google Shape;108;p3">
            <a:extLst>
              <a:ext uri="{FF2B5EF4-FFF2-40B4-BE49-F238E27FC236}">
                <a16:creationId xmlns:a16="http://schemas.microsoft.com/office/drawing/2014/main" id="{960C9CEC-95E0-EC61-7F52-E33D46AB8A90}"/>
              </a:ext>
            </a:extLst>
          </p:cNvPr>
          <p:cNvSpPr txBox="1"/>
          <p:nvPr/>
        </p:nvSpPr>
        <p:spPr>
          <a:xfrm>
            <a:off x="9322068" y="5886461"/>
            <a:ext cx="2025889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CO" sz="3600" dirty="0">
                <a:solidFill>
                  <a:schemeClr val="accent6"/>
                </a:solidFill>
                <a:latin typeface="Calibri"/>
                <a:cs typeface="Calibri"/>
                <a:sym typeface="Calibri"/>
                <a:hlinkClick r:id="rId5"/>
              </a:rPr>
              <a:t>Diagrama</a:t>
            </a:r>
            <a:endParaRPr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4718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3"/>
          <p:cNvSpPr txBox="1"/>
          <p:nvPr/>
        </p:nvSpPr>
        <p:spPr>
          <a:xfrm>
            <a:off x="653143" y="325249"/>
            <a:ext cx="9940835" cy="527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FFFFFF"/>
              </a:buClr>
              <a:buSzPts val="6000"/>
              <a:defRPr/>
            </a:pPr>
            <a:r>
              <a:rPr lang="es-CO" sz="4000" b="1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Diagrama Despliegue</a:t>
            </a:r>
            <a:endParaRPr sz="4000" b="1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61E8651-04E9-9BB4-13A6-DB93346C3F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388" y="1340423"/>
            <a:ext cx="6573137" cy="5437252"/>
          </a:xfrm>
          <a:prstGeom prst="rect">
            <a:avLst/>
          </a:prstGeom>
        </p:spPr>
      </p:pic>
      <p:sp>
        <p:nvSpPr>
          <p:cNvPr id="5" name="Google Shape;108;p3">
            <a:extLst>
              <a:ext uri="{FF2B5EF4-FFF2-40B4-BE49-F238E27FC236}">
                <a16:creationId xmlns:a16="http://schemas.microsoft.com/office/drawing/2014/main" id="{74A0078D-2F88-3129-661F-CA6E7692D475}"/>
              </a:ext>
            </a:extLst>
          </p:cNvPr>
          <p:cNvSpPr txBox="1"/>
          <p:nvPr/>
        </p:nvSpPr>
        <p:spPr>
          <a:xfrm>
            <a:off x="9680723" y="6017455"/>
            <a:ext cx="2025889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CO" sz="3600" dirty="0">
                <a:solidFill>
                  <a:schemeClr val="accent6"/>
                </a:solidFill>
                <a:latin typeface="Calibri"/>
                <a:cs typeface="Calibri"/>
                <a:sym typeface="Calibri"/>
                <a:hlinkClick r:id="rId5"/>
              </a:rPr>
              <a:t>Diagrama</a:t>
            </a:r>
            <a:endParaRPr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14409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"/>
          <p:cNvSpPr txBox="1"/>
          <p:nvPr/>
        </p:nvSpPr>
        <p:spPr>
          <a:xfrm>
            <a:off x="399535" y="2287246"/>
            <a:ext cx="11392931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s-CO" sz="6000" b="1" dirty="0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Diseño de Interfaces</a:t>
            </a:r>
            <a:endParaRPr sz="7200" b="1" dirty="0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15" name="Google Shape;115;p4"/>
          <p:cNvCxnSpPr/>
          <p:nvPr/>
        </p:nvCxnSpPr>
        <p:spPr>
          <a:xfrm>
            <a:off x="5013631" y="3555133"/>
            <a:ext cx="2247544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14131000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3"/>
          <p:cNvSpPr txBox="1"/>
          <p:nvPr/>
        </p:nvSpPr>
        <p:spPr>
          <a:xfrm>
            <a:off x="653143" y="325249"/>
            <a:ext cx="9940835" cy="527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FFFFFF"/>
              </a:buClr>
              <a:buSzPts val="6000"/>
              <a:defRPr/>
            </a:pPr>
            <a:r>
              <a:rPr lang="es-CO" sz="4000" b="1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Maquetación</a:t>
            </a:r>
            <a:endParaRPr sz="4000" b="1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DC821A2-3576-9560-B28F-279CF2E5DF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76" y="1287554"/>
            <a:ext cx="11942580" cy="4648025"/>
          </a:xfrm>
          <a:prstGeom prst="rect">
            <a:avLst/>
          </a:prstGeom>
        </p:spPr>
      </p:pic>
      <p:sp>
        <p:nvSpPr>
          <p:cNvPr id="4" name="Google Shape;108;p3">
            <a:extLst>
              <a:ext uri="{FF2B5EF4-FFF2-40B4-BE49-F238E27FC236}">
                <a16:creationId xmlns:a16="http://schemas.microsoft.com/office/drawing/2014/main" id="{8E5179B0-ABEA-F1EC-7C6F-FE88392500FD}"/>
              </a:ext>
            </a:extLst>
          </p:cNvPr>
          <p:cNvSpPr txBox="1"/>
          <p:nvPr/>
        </p:nvSpPr>
        <p:spPr>
          <a:xfrm>
            <a:off x="296092" y="6046864"/>
            <a:ext cx="2719824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CO" sz="3600" dirty="0">
                <a:solidFill>
                  <a:schemeClr val="accent6"/>
                </a:solidFill>
                <a:latin typeface="Calibri"/>
                <a:cs typeface="Calibri"/>
                <a:sym typeface="Calibri"/>
                <a:hlinkClick r:id="rId5"/>
              </a:rPr>
              <a:t>Repositorio</a:t>
            </a:r>
            <a:endParaRPr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7534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107</Words>
  <Application>Microsoft Office PowerPoint</Application>
  <PresentationFormat>Panorámica</PresentationFormat>
  <Paragraphs>29</Paragraphs>
  <Slides>16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Work Sans</vt:lpstr>
      <vt:lpstr>Arial</vt:lpstr>
      <vt:lpstr>Calibri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Jorge Enrique Pedraza Sanchez</dc:creator>
  <cp:lastModifiedBy>Usuario</cp:lastModifiedBy>
  <cp:revision>4</cp:revision>
  <dcterms:created xsi:type="dcterms:W3CDTF">2020-10-01T23:51:28Z</dcterms:created>
  <dcterms:modified xsi:type="dcterms:W3CDTF">2026-06-30T15:54:34Z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299739c-ad3d-4908-806e-4d91151a6e13_Enabled">
    <vt:lpwstr>true</vt:lpwstr>
  </property>
  <property fmtid="{D5CDD505-2E9C-101B-9397-08002B2CF9AE}" pid="3" name="MSIP_Label_1299739c-ad3d-4908-806e-4d91151a6e13_Method">
    <vt:lpwstr>Standard</vt:lpwstr>
  </property>
  <property fmtid="{D5CDD505-2E9C-101B-9397-08002B2CF9AE}" pid="4" name="MSIP_Label_1299739c-ad3d-4908-806e-4d91151a6e13_Name">
    <vt:lpwstr>All Employees (Unrestricted)</vt:lpwstr>
  </property>
  <property fmtid="{D5CDD505-2E9C-101B-9397-08002B2CF9AE}" pid="5" name="MSIP_Label_1299739c-ad3d-4908-806e-4d91151a6e13_SiteId">
    <vt:lpwstr>cbc2c381-2f2e-4d93-91d1-506c9316ace7</vt:lpwstr>
  </property>
  <property fmtid="{D5CDD505-2E9C-101B-9397-08002B2CF9AE}" pid="6" name="MSIP_Label_1299739c-ad3d-4908-806e-4d91151a6e13_ContentBits">
    <vt:lpwstr>0</vt:lpwstr>
  </property>
  <property fmtid="{D5CDD505-2E9C-101B-9397-08002B2CF9AE}" pid="7" name="MSIP_Label_1299739c-ad3d-4908-806e-4d91151a6e13_SetDate">
    <vt:lpwstr>2022-08-12T19:17:55Z</vt:lpwstr>
  </property>
  <property fmtid="{D5CDD505-2E9C-101B-9397-08002B2CF9AE}" pid="8" name="MSIP_Label_1299739c-ad3d-4908-806e-4d91151a6e13_ActionId">
    <vt:lpwstr>8c6bc714-34a9-4b82-914e-50b1377a2da4</vt:lpwstr>
  </property>
</Properties>
</file>