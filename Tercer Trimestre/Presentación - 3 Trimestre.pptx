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73" r:id="rId8"/>
    <p:sldId id="274" r:id="rId9"/>
    <p:sldId id="272" r:id="rId10"/>
    <p:sldId id="275" r:id="rId11"/>
    <p:sldId id="276" r:id="rId12"/>
    <p:sldId id="277" r:id="rId13"/>
    <p:sldId id="278" r:id="rId14"/>
    <p:sldId id="279" r:id="rId15"/>
    <p:sldId id="280" r:id="rId16"/>
    <p:sldId id="267" r:id="rId17"/>
  </p:sldIdLst>
  <p:sldSz cx="12192000" cy="6858000"/>
  <p:notesSz cx="6858000" cy="9144000"/>
  <p:embeddedFontLst>
    <p:embeddedFont>
      <p:font typeface="Work Sans" pitchFamily="2" charset="0"/>
      <p:regular r:id="rId19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8ATteeCZnY9oSBywHj+xxF5qV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4" y="78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831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8815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57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5896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333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8180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298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9990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0394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4317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77" lvl="1" indent="-4063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566" lvl="2" indent="-3809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754" lvl="3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5943" lvl="4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131" lvl="5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133432" y="1956596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4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dWwhL5RIpcRHG51ooGabB6ZOQgrbxChp/view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rDfoUJofW-_yQ804_tGtoWhbVZqnmCDc/view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google.com/spreadsheets/d/1zi72P9yRE4uLPaNgD9Mdr_f_eHUd4W56/edit?usp=sharing&amp;ouid=105958798031881620302&amp;rtpof=true&amp;sd=true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uzAL2uitjjTG1uG-Lh-Mo1gaWesHZxmp/view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4996499" y="2505675"/>
            <a:ext cx="2757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3F3F3F"/>
              </a:buClr>
              <a:buSzPts val="5400"/>
            </a:pPr>
            <a:r>
              <a:rPr lang="es-CO" sz="5400" b="1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Panify</a:t>
            </a:r>
            <a:endParaRPr sz="5400" b="1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0062786" y="4903689"/>
            <a:ext cx="1133501" cy="9191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281551" y="3318937"/>
            <a:ext cx="56288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3B35A"/>
              </a:buClr>
              <a:buSzPts val="2400"/>
            </a:pPr>
            <a:r>
              <a:rPr lang="es-CO" sz="2400" i="1">
                <a:solidFill>
                  <a:srgbClr val="F3B35A"/>
                </a:solidFill>
                <a:latin typeface="Calibri"/>
                <a:ea typeface="Calibri"/>
                <a:cs typeface="Calibri"/>
                <a:sym typeface="Calibri"/>
              </a:rPr>
              <a:t>Horneamos Calidad, Entregamos Confianza.</a:t>
            </a:r>
            <a:endParaRPr sz="2400" b="1">
              <a:solidFill>
                <a:srgbClr val="F3B35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24052" y="4161486"/>
            <a:ext cx="20502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O" dirty="0">
                <a:latin typeface="Work Sans"/>
                <a:ea typeface="Work Sans"/>
                <a:cs typeface="Work Sans"/>
                <a:sym typeface="Work Sans"/>
              </a:rPr>
              <a:t>BRANDON GUEVARA</a:t>
            </a:r>
          </a:p>
          <a:p>
            <a:r>
              <a:rPr lang="es-CO" dirty="0">
                <a:latin typeface="Work Sans"/>
                <a:ea typeface="Work Sans"/>
                <a:cs typeface="Work Sans"/>
                <a:sym typeface="Work Sans"/>
              </a:rPr>
              <a:t>MARTÍN CRUZ 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r>
              <a:rPr lang="es-CO" dirty="0">
                <a:latin typeface="Work Sans"/>
                <a:ea typeface="Work Sans"/>
                <a:cs typeface="Work Sans"/>
                <a:sym typeface="Work Sans"/>
              </a:rPr>
              <a:t>JEISON DIAZ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r>
              <a:rPr lang="es-CO" dirty="0">
                <a:latin typeface="Work Sans"/>
                <a:ea typeface="Work Sans"/>
                <a:cs typeface="Work Sans"/>
                <a:sym typeface="Work Sans"/>
              </a:rPr>
              <a:t>BRAYAN DEVIA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r>
              <a:rPr lang="es-CO" dirty="0">
                <a:latin typeface="Work Sans"/>
                <a:ea typeface="Work Sans"/>
                <a:cs typeface="Work Sans"/>
                <a:sym typeface="Work Sans"/>
              </a:rPr>
              <a:t>JULIÁN GONZÁLEZ</a:t>
            </a:r>
            <a:endParaRPr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1838585" y="2430118"/>
            <a:ext cx="851482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60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956343" y="1273965"/>
            <a:ext cx="4974195" cy="67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38AA00"/>
              </a:buClr>
              <a:buSzPts val="4400"/>
            </a:pPr>
            <a:r>
              <a:rPr lang="es-CO" sz="4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956341" y="2301152"/>
            <a:ext cx="937299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O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que gestione los pedidos, el inventario y la generación de recibos, facilitando la organización de la producción y las entregas en Oro Pan.</a:t>
            </a:r>
            <a:endParaRPr dirty="0"/>
          </a:p>
        </p:txBody>
      </p:sp>
      <p:cxnSp>
        <p:nvCxnSpPr>
          <p:cNvPr id="109" name="Google Shape;109;p3"/>
          <p:cNvCxnSpPr/>
          <p:nvPr/>
        </p:nvCxnSpPr>
        <p:spPr>
          <a:xfrm>
            <a:off x="1038936" y="1950563"/>
            <a:ext cx="1745123" cy="0"/>
          </a:xfrm>
          <a:prstGeom prst="straightConnector1">
            <a:avLst/>
          </a:prstGeom>
          <a:noFill/>
          <a:ln w="12700" cap="flat" cmpd="sng">
            <a:solidFill>
              <a:srgbClr val="4D4D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838585" y="2430118"/>
            <a:ext cx="851482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60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1074875" y="910475"/>
            <a:ext cx="61338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38AA00"/>
              </a:buClr>
              <a:buSzPts val="4400"/>
            </a:pPr>
            <a:r>
              <a:rPr lang="es-CO" sz="44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44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5"/>
          <p:cNvCxnSpPr/>
          <p:nvPr/>
        </p:nvCxnSpPr>
        <p:spPr>
          <a:xfrm>
            <a:off x="1157467" y="1600132"/>
            <a:ext cx="1745123" cy="0"/>
          </a:xfrm>
          <a:prstGeom prst="straightConnector1">
            <a:avLst/>
          </a:prstGeom>
          <a:noFill/>
          <a:ln w="12700" cap="flat" cmpd="sng">
            <a:solidFill>
              <a:srgbClr val="4D4D4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2" name="Google Shape;12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726" y="2016928"/>
            <a:ext cx="10342551" cy="43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6000" b="1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Base de Datos</a:t>
            </a:r>
            <a:endParaRPr sz="7200" b="1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90570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Entidad Relación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CC157F-0E70-67B0-97C7-C610E0814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61" y="1392768"/>
            <a:ext cx="4319910" cy="5139983"/>
          </a:xfrm>
          <a:prstGeom prst="rect">
            <a:avLst/>
          </a:prstGeom>
        </p:spPr>
      </p:pic>
      <p:sp>
        <p:nvSpPr>
          <p:cNvPr id="11" name="Google Shape;108;p3">
            <a:extLst>
              <a:ext uri="{FF2B5EF4-FFF2-40B4-BE49-F238E27FC236}">
                <a16:creationId xmlns:a16="http://schemas.microsoft.com/office/drawing/2014/main" id="{E7FE2694-ECA2-D859-CFD1-F09CFB00393A}"/>
              </a:ext>
            </a:extLst>
          </p:cNvPr>
          <p:cNvSpPr txBox="1"/>
          <p:nvPr/>
        </p:nvSpPr>
        <p:spPr>
          <a:xfrm>
            <a:off x="6378453" y="3316469"/>
            <a:ext cx="446965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O" sz="3600" dirty="0">
                <a:solidFill>
                  <a:schemeClr val="accent6"/>
                </a:solidFill>
                <a:latin typeface="Calibri"/>
                <a:cs typeface="Calibri"/>
                <a:sym typeface="Calibri"/>
                <a:hlinkClick r:id="rId5"/>
              </a:rPr>
              <a:t>M.E.R. Notación Chen</a:t>
            </a: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74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641B44-96A0-0BB1-9339-AC1067BED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3" y="1428750"/>
            <a:ext cx="5000907" cy="5228692"/>
          </a:xfrm>
          <a:prstGeom prst="rect">
            <a:avLst/>
          </a:prstGeom>
        </p:spPr>
      </p:pic>
      <p:sp>
        <p:nvSpPr>
          <p:cNvPr id="4" name="Google Shape;108;p3">
            <a:extLst>
              <a:ext uri="{FF2B5EF4-FFF2-40B4-BE49-F238E27FC236}">
                <a16:creationId xmlns:a16="http://schemas.microsoft.com/office/drawing/2014/main" id="{FAC6E1CA-1577-309C-E305-2D2695BF00C2}"/>
              </a:ext>
            </a:extLst>
          </p:cNvPr>
          <p:cNvSpPr txBox="1"/>
          <p:nvPr/>
        </p:nvSpPr>
        <p:spPr>
          <a:xfrm>
            <a:off x="6378452" y="3316469"/>
            <a:ext cx="50009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3600" dirty="0">
                <a:solidFill>
                  <a:schemeClr val="accent6"/>
                </a:solidFill>
                <a:latin typeface="Calibri"/>
                <a:cs typeface="Calibri"/>
                <a:sym typeface="Calibri"/>
                <a:hlinkClick r:id="rId5"/>
              </a:rPr>
              <a:t>M.E. </a:t>
            </a:r>
            <a:r>
              <a:rPr lang="es-CO" sz="3600" dirty="0" err="1">
                <a:solidFill>
                  <a:schemeClr val="accent6"/>
                </a:solidFill>
                <a:latin typeface="Calibri"/>
                <a:cs typeface="Calibri"/>
                <a:sym typeface="Calibri"/>
                <a:hlinkClick r:id="rId5"/>
              </a:rPr>
              <a:t>Workbench</a:t>
            </a: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775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Normalización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03AC4F-9E40-58A8-3918-C506D0836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027" y="1345034"/>
            <a:ext cx="9205599" cy="4167935"/>
          </a:xfrm>
          <a:prstGeom prst="rect">
            <a:avLst/>
          </a:prstGeom>
        </p:spPr>
      </p:pic>
      <p:sp>
        <p:nvSpPr>
          <p:cNvPr id="4" name="Google Shape;108;p3">
            <a:extLst>
              <a:ext uri="{FF2B5EF4-FFF2-40B4-BE49-F238E27FC236}">
                <a16:creationId xmlns:a16="http://schemas.microsoft.com/office/drawing/2014/main" id="{CA32D6B8-E990-05EE-B505-D4C2127C1A8A}"/>
              </a:ext>
            </a:extLst>
          </p:cNvPr>
          <p:cNvSpPr txBox="1"/>
          <p:nvPr/>
        </p:nvSpPr>
        <p:spPr>
          <a:xfrm>
            <a:off x="1106329" y="5886462"/>
            <a:ext cx="46527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O" sz="3600" dirty="0">
                <a:solidFill>
                  <a:schemeClr val="accent6"/>
                </a:solidFill>
                <a:latin typeface="Calibri"/>
                <a:cs typeface="Calibri"/>
                <a:sym typeface="Calibri"/>
                <a:hlinkClick r:id="rId5"/>
              </a:rPr>
              <a:t>Normalización del M.E.</a:t>
            </a:r>
            <a:endParaRPr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43230-BDCB-9F8F-FF52-708793980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735" y="1578324"/>
            <a:ext cx="8501827" cy="4032767"/>
          </a:xfrm>
          <a:prstGeom prst="rect">
            <a:avLst/>
          </a:prstGeom>
        </p:spPr>
      </p:pic>
      <p:sp>
        <p:nvSpPr>
          <p:cNvPr id="4" name="Google Shape;108;p3">
            <a:extLst>
              <a:ext uri="{FF2B5EF4-FFF2-40B4-BE49-F238E27FC236}">
                <a16:creationId xmlns:a16="http://schemas.microsoft.com/office/drawing/2014/main" id="{B77A7AB3-8F11-8760-8720-B5C216F16768}"/>
              </a:ext>
            </a:extLst>
          </p:cNvPr>
          <p:cNvSpPr txBox="1"/>
          <p:nvPr/>
        </p:nvSpPr>
        <p:spPr>
          <a:xfrm>
            <a:off x="653143" y="5886461"/>
            <a:ext cx="46527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O" sz="3600" dirty="0">
                <a:solidFill>
                  <a:schemeClr val="accent6"/>
                </a:solidFill>
                <a:latin typeface="Calibri"/>
                <a:cs typeface="Calibri"/>
                <a:sym typeface="Calibri"/>
                <a:hlinkClick r:id="rId5"/>
              </a:rPr>
              <a:t>Diccionario de Datos</a:t>
            </a: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410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6000" b="1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y Arquitectura del SW</a:t>
            </a:r>
            <a:endParaRPr sz="7200" b="1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5110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 Clases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4847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Despliegue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1821440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399535" y="2287246"/>
            <a:ext cx="1139293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6000" b="1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Interfaces</a:t>
            </a:r>
            <a:endParaRPr sz="7200" b="1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1" y="3555133"/>
            <a:ext cx="2247544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13100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49"/>
            <a:ext cx="9940835" cy="52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6000"/>
              <a:defRPr/>
            </a:pPr>
            <a:r>
              <a:rPr lang="es-CO" sz="40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Maquetación</a:t>
            </a:r>
            <a:endParaRPr sz="40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2267534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104</Words>
  <Application>Microsoft Office PowerPoint</Application>
  <PresentationFormat>Panorámica</PresentationFormat>
  <Paragraphs>26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Work Sans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Enrique Pedraza Sanchez</dc:creator>
  <cp:lastModifiedBy>Usuario</cp:lastModifiedBy>
  <cp:revision>3</cp:revision>
  <dcterms:created xsi:type="dcterms:W3CDTF">2020-10-01T23:51:28Z</dcterms:created>
  <dcterms:modified xsi:type="dcterms:W3CDTF">2026-06-02T14:05:55Z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